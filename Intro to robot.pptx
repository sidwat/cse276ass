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8"/>
      <p:bold r:id="rId19"/>
      <p:italic r:id="rId20"/>
      <p:boldItalic r:id="rId21"/>
    </p:embeddedFont>
    <p:embeddedFont>
      <p:font typeface="Roboto Medium" panose="02000000000000000000" pitchFamily="2" charset="0"/>
      <p:regular r:id="rId22"/>
      <p: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54" d="100"/>
          <a:sy n="154" d="100"/>
        </p:scale>
        <p:origin x="888" y="1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8f0e3465b5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8f0e3465b5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8f0e3465b5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8f0e3465b5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8f0e3465b5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8f0e3465b5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8f0e3465b5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8f0e3465b5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8f0e3465b5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8f0e3465b5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897c4f0b92_2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897c4f0b92_2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897c4f0b92_2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897c4f0b92_2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897c4f0b92_2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897c4f0b92_2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8f25585b5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8f25585b5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897c4f0b92_2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897c4f0b92_2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897c4f0b92_2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897c4f0b92_2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897c4f0b92_2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897c4f0b92_2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897c4f0b92_2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897c4f0b92_2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8775e0dab8_2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8775e0dab8_2_1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link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4040625"/>
            <a:ext cx="5245800" cy="1102800"/>
          </a:xfrm>
          <a:prstGeom prst="rect">
            <a:avLst/>
          </a:prstGeom>
          <a:solidFill>
            <a:srgbClr val="004E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2420225"/>
            <a:ext cx="9144000" cy="2243100"/>
          </a:xfrm>
          <a:prstGeom prst="rect">
            <a:avLst/>
          </a:prstGeom>
          <a:solidFill>
            <a:srgbClr val="004E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311700" y="1022463"/>
            <a:ext cx="8520600" cy="130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B5170"/>
              </a:buClr>
              <a:buSzPts val="4400"/>
              <a:buFont typeface="Roboto"/>
              <a:buNone/>
              <a:defRPr sz="4400" b="1">
                <a:solidFill>
                  <a:srgbClr val="0B517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311700" y="2561625"/>
            <a:ext cx="8520600" cy="147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"/>
              <a:buNone/>
              <a:defRPr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595308" y="47036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2"/>
          <p:cNvSpPr txBox="1"/>
          <p:nvPr/>
        </p:nvSpPr>
        <p:spPr>
          <a:xfrm>
            <a:off x="132900" y="4678083"/>
            <a:ext cx="475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Contextual Robotics Institute | Autonomous Vehicle Lab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0" y="0"/>
            <a:ext cx="9144000" cy="929100"/>
          </a:xfrm>
          <a:prstGeom prst="rect">
            <a:avLst/>
          </a:prstGeom>
          <a:solidFill>
            <a:srgbClr val="0B517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highlight>
                <a:srgbClr val="0B5170"/>
              </a:highlight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311700" y="18460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4E72"/>
              </a:buClr>
              <a:buSzPts val="3600"/>
              <a:buFont typeface="Roboto Medium"/>
              <a:buNone/>
              <a:defRPr sz="3600">
                <a:solidFill>
                  <a:srgbClr val="004E72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8595308" y="47036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expand">
  <p:cSld name="SECTION_HEADER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1846050"/>
            <a:ext cx="3633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4E72"/>
              </a:buClr>
              <a:buSzPts val="3600"/>
              <a:buFont typeface="Roboto Medium"/>
              <a:buNone/>
              <a:defRPr sz="3600">
                <a:solidFill>
                  <a:srgbClr val="004E72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595308" y="47036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" name="Google Shape;24;p4"/>
          <p:cNvSpPr/>
          <p:nvPr/>
        </p:nvSpPr>
        <p:spPr>
          <a:xfrm>
            <a:off x="4566025" y="0"/>
            <a:ext cx="4578000" cy="4642200"/>
          </a:xfrm>
          <a:prstGeom prst="rect">
            <a:avLst/>
          </a:prstGeom>
          <a:solidFill>
            <a:srgbClr val="004E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5065650" y="1026225"/>
            <a:ext cx="3691800" cy="32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Char char="●"/>
              <a:defRPr sz="2000">
                <a:solidFill>
                  <a:srgbClr val="FFFFFF"/>
                </a:solidFill>
              </a:defRPr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○"/>
              <a:defRPr sz="1600">
                <a:solidFill>
                  <a:srgbClr val="FFFFFF"/>
                </a:solidFill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4E72"/>
              </a:buClr>
              <a:buSzPts val="2800"/>
              <a:buFont typeface="Roboto Medium"/>
              <a:buNone/>
              <a:defRPr>
                <a:solidFill>
                  <a:srgbClr val="004E72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004E72"/>
              </a:buClr>
              <a:buSzPts val="1800"/>
              <a:buFont typeface="Roboto"/>
              <a:buChar char="●"/>
              <a:defRPr>
                <a:solidFill>
                  <a:srgbClr val="004E7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rgbClr val="004E72"/>
              </a:buClr>
              <a:buSzPts val="1400"/>
              <a:buFont typeface="Roboto"/>
              <a:buChar char="○"/>
              <a:defRPr>
                <a:solidFill>
                  <a:srgbClr val="004E7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rgbClr val="004E72"/>
              </a:buClr>
              <a:buSzPts val="1400"/>
              <a:buFont typeface="Roboto"/>
              <a:buChar char="■"/>
              <a:defRPr>
                <a:solidFill>
                  <a:srgbClr val="004E7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rgbClr val="004E72"/>
              </a:buClr>
              <a:buSzPts val="1400"/>
              <a:buFont typeface="Roboto"/>
              <a:buChar char="●"/>
              <a:defRPr>
                <a:solidFill>
                  <a:srgbClr val="004E7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rgbClr val="004E72"/>
              </a:buClr>
              <a:buSzPts val="1400"/>
              <a:buFont typeface="Roboto"/>
              <a:buChar char="○"/>
              <a:defRPr>
                <a:solidFill>
                  <a:srgbClr val="004E7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rgbClr val="004E72"/>
              </a:buClr>
              <a:buSzPts val="1400"/>
              <a:buFont typeface="Roboto"/>
              <a:buChar char="■"/>
              <a:defRPr>
                <a:solidFill>
                  <a:srgbClr val="004E7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rgbClr val="004E72"/>
              </a:buClr>
              <a:buSzPts val="1400"/>
              <a:buFont typeface="Roboto"/>
              <a:buChar char="●"/>
              <a:defRPr>
                <a:solidFill>
                  <a:srgbClr val="004E7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rgbClr val="004E72"/>
              </a:buClr>
              <a:buSzPts val="1400"/>
              <a:buFont typeface="Roboto"/>
              <a:buChar char="○"/>
              <a:defRPr>
                <a:solidFill>
                  <a:srgbClr val="004E7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rgbClr val="004E72"/>
              </a:buClr>
              <a:buSzPts val="1400"/>
              <a:buFont typeface="Roboto"/>
              <a:buChar char="■"/>
              <a:defRPr>
                <a:solidFill>
                  <a:srgbClr val="004E7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595308" y="47036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citation">
  <p:cSld name="TITLE_AND_BODY_1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4E72"/>
              </a:buClr>
              <a:buSzPts val="2800"/>
              <a:buFont typeface="Roboto Medium"/>
              <a:buNone/>
              <a:defRPr>
                <a:solidFill>
                  <a:srgbClr val="004E72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1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004E72"/>
              </a:buClr>
              <a:buSzPts val="1800"/>
              <a:buFont typeface="Roboto"/>
              <a:buChar char="●"/>
              <a:defRPr>
                <a:solidFill>
                  <a:srgbClr val="004E7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rgbClr val="004E72"/>
              </a:buClr>
              <a:buSzPts val="1400"/>
              <a:buFont typeface="Roboto"/>
              <a:buChar char="○"/>
              <a:defRPr>
                <a:solidFill>
                  <a:srgbClr val="004E7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rgbClr val="004E72"/>
              </a:buClr>
              <a:buSzPts val="1400"/>
              <a:buFont typeface="Roboto"/>
              <a:buChar char="■"/>
              <a:defRPr>
                <a:solidFill>
                  <a:srgbClr val="004E7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rgbClr val="004E72"/>
              </a:buClr>
              <a:buSzPts val="1400"/>
              <a:buFont typeface="Roboto"/>
              <a:buChar char="●"/>
              <a:defRPr>
                <a:solidFill>
                  <a:srgbClr val="004E7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rgbClr val="004E72"/>
              </a:buClr>
              <a:buSzPts val="1400"/>
              <a:buFont typeface="Roboto"/>
              <a:buChar char="○"/>
              <a:defRPr>
                <a:solidFill>
                  <a:srgbClr val="004E7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rgbClr val="004E72"/>
              </a:buClr>
              <a:buSzPts val="1400"/>
              <a:buFont typeface="Roboto"/>
              <a:buChar char="■"/>
              <a:defRPr>
                <a:solidFill>
                  <a:srgbClr val="004E7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rgbClr val="004E72"/>
              </a:buClr>
              <a:buSzPts val="1400"/>
              <a:buFont typeface="Roboto"/>
              <a:buChar char="●"/>
              <a:defRPr>
                <a:solidFill>
                  <a:srgbClr val="004E7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rgbClr val="004E72"/>
              </a:buClr>
              <a:buSzPts val="1400"/>
              <a:buFont typeface="Roboto"/>
              <a:buChar char="○"/>
              <a:defRPr>
                <a:solidFill>
                  <a:srgbClr val="004E7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rgbClr val="004E72"/>
              </a:buClr>
              <a:buSzPts val="1400"/>
              <a:buFont typeface="Roboto"/>
              <a:buChar char="■"/>
              <a:defRPr>
                <a:solidFill>
                  <a:srgbClr val="004E7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595308" y="47036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 idx="2"/>
          </p:nvPr>
        </p:nvSpPr>
        <p:spPr>
          <a:xfrm>
            <a:off x="311700" y="4273675"/>
            <a:ext cx="8520600" cy="2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8595308" y="47036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sldNum" idx="12"/>
          </p:nvPr>
        </p:nvSpPr>
        <p:spPr>
          <a:xfrm>
            <a:off x="8595308" y="47036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ldNum" idx="12"/>
          </p:nvPr>
        </p:nvSpPr>
        <p:spPr>
          <a:xfrm>
            <a:off x="8595308" y="47036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sldNum" idx="12"/>
          </p:nvPr>
        </p:nvSpPr>
        <p:spPr>
          <a:xfrm>
            <a:off x="8595308" y="47036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595308" y="47036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595308" y="47036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1" name="Google Shape;61;p1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sldNum" idx="12"/>
          </p:nvPr>
        </p:nvSpPr>
        <p:spPr>
          <a:xfrm>
            <a:off x="8595308" y="47036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8595308" y="47036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5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4E72"/>
              </a:buClr>
              <a:buSzPts val="2800"/>
              <a:buFont typeface="Roboto Medium"/>
              <a:buNone/>
              <a:defRPr sz="2800">
                <a:solidFill>
                  <a:srgbClr val="004E72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4E72"/>
              </a:buClr>
              <a:buSzPts val="1800"/>
              <a:buFont typeface="Roboto"/>
              <a:buChar char="●"/>
              <a:defRPr sz="1800">
                <a:solidFill>
                  <a:srgbClr val="004E7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4E72"/>
              </a:buClr>
              <a:buSzPts val="1400"/>
              <a:buFont typeface="Roboto"/>
              <a:buChar char="○"/>
              <a:defRPr>
                <a:solidFill>
                  <a:srgbClr val="004E7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4E72"/>
              </a:buClr>
              <a:buSzPts val="1400"/>
              <a:buFont typeface="Roboto"/>
              <a:buChar char="■"/>
              <a:defRPr>
                <a:solidFill>
                  <a:srgbClr val="004E7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4E72"/>
              </a:buClr>
              <a:buSzPts val="1400"/>
              <a:buFont typeface="Roboto"/>
              <a:buChar char="●"/>
              <a:defRPr>
                <a:solidFill>
                  <a:srgbClr val="004E7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4E72"/>
              </a:buClr>
              <a:buSzPts val="1400"/>
              <a:buFont typeface="Roboto"/>
              <a:buChar char="○"/>
              <a:defRPr>
                <a:solidFill>
                  <a:srgbClr val="004E7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4E72"/>
              </a:buClr>
              <a:buSzPts val="1400"/>
              <a:buFont typeface="Roboto"/>
              <a:buChar char="■"/>
              <a:defRPr>
                <a:solidFill>
                  <a:srgbClr val="004E7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4E72"/>
              </a:buClr>
              <a:buSzPts val="1400"/>
              <a:buFont typeface="Roboto"/>
              <a:buChar char="●"/>
              <a:defRPr>
                <a:solidFill>
                  <a:srgbClr val="004E7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4E72"/>
              </a:buClr>
              <a:buSzPts val="1400"/>
              <a:buFont typeface="Roboto"/>
              <a:buChar char="○"/>
              <a:defRPr>
                <a:solidFill>
                  <a:srgbClr val="004E7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4E72"/>
              </a:buClr>
              <a:buSzPts val="1400"/>
              <a:buFont typeface="Roboto"/>
              <a:buChar char="■"/>
              <a:defRPr>
                <a:solidFill>
                  <a:srgbClr val="004E7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95308" y="47036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200" b="1">
                <a:solidFill>
                  <a:srgbClr val="FFFFFF"/>
                </a:solidFill>
              </a:defRPr>
            </a:lvl1pPr>
            <a:lvl2pPr lvl="1" algn="r" rtl="0">
              <a:buNone/>
              <a:defRPr sz="1200" b="1">
                <a:solidFill>
                  <a:srgbClr val="FFFFFF"/>
                </a:solidFill>
              </a:defRPr>
            </a:lvl2pPr>
            <a:lvl3pPr lvl="2" algn="r" rtl="0">
              <a:buNone/>
              <a:defRPr sz="1200" b="1">
                <a:solidFill>
                  <a:srgbClr val="FFFFFF"/>
                </a:solidFill>
              </a:defRPr>
            </a:lvl3pPr>
            <a:lvl4pPr lvl="3" algn="r" rtl="0">
              <a:buNone/>
              <a:defRPr sz="1200" b="1">
                <a:solidFill>
                  <a:srgbClr val="FFFFFF"/>
                </a:solidFill>
              </a:defRPr>
            </a:lvl4pPr>
            <a:lvl5pPr lvl="4" algn="r" rtl="0">
              <a:buNone/>
              <a:defRPr sz="1200" b="1">
                <a:solidFill>
                  <a:srgbClr val="FFFFFF"/>
                </a:solidFill>
              </a:defRPr>
            </a:lvl5pPr>
            <a:lvl6pPr lvl="5" algn="r" rtl="0">
              <a:buNone/>
              <a:defRPr sz="1200" b="1">
                <a:solidFill>
                  <a:srgbClr val="FFFFFF"/>
                </a:solidFill>
              </a:defRPr>
            </a:lvl6pPr>
            <a:lvl7pPr lvl="6" algn="r" rtl="0">
              <a:buNone/>
              <a:defRPr sz="1200" b="1">
                <a:solidFill>
                  <a:srgbClr val="FFFFFF"/>
                </a:solidFill>
              </a:defRPr>
            </a:lvl7pPr>
            <a:lvl8pPr lvl="7" algn="r" rtl="0">
              <a:buNone/>
              <a:defRPr sz="1200" b="1">
                <a:solidFill>
                  <a:srgbClr val="FFFFFF"/>
                </a:solidFill>
              </a:defRPr>
            </a:lvl8pPr>
            <a:lvl9pPr lvl="8" algn="r" rtl="0">
              <a:buNone/>
              <a:defRPr sz="1200" b="1">
                <a:solidFill>
                  <a:srgbClr val="FFFFF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132900" y="4678083"/>
            <a:ext cx="475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Contextual Robotics Institute | Autonomous Vehicle Lab</a:t>
            </a:r>
            <a:endParaRPr>
              <a:solidFill>
                <a:schemeClr val="lt1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hiark.greenend.org.uk/~sgtatham/putty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www.thundercomm.com/rubik-pi-3/en/docs/rubik-pi-3-user-manual/1.0.0-u/Device%20Setup/set-up-your-device#set-up-the-debug-uart" TargetMode="Externa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undercomm.com/rubik-pi-3/en/docs/rubik-pi-3-user-manual/1.0.0-u/Device%20Setup/set-up-your-device#connect-to-the-network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thundercomm.com/rubik-pi-3/en/docs/rubik-pi-3-user-manual/1.0.0-u/Device%20Setup/set-up-your-device#establish-ssh-connection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aveshare.com/wiki/WAVE_ROVER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utonomousVehicleLaboratory/rubikpi_ros2/blob/dd1ef7a80b24d6faaaecb58ce6bd57262a900565/robot_control/robot_control/motor_control.py#L101C1-L128C81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utonomousVehicleLaboratory/rubikpi_ros2/tree/main/robot_control/robot_contro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github.com/AutonomousVehicleLaboratory/rubikpi_ros2/tree/main/robot_control/launch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utonomousVehicleLaboratory/rubikpi_ros2/tree/main/robot_vision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hyperlink" Target="https://github.com/AutonomousVehicleLaboratory/rubikpi_ros2/tree/main/robot_control/launch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drive.google.com/file/d/1y9t6bTPjmnPsYb2Pmh7_7H6YHTBuuu2H/view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aveshare.com/wiki/WAVE_ROVER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www.thundercomm.com/rubik-pi-3/en/docs/rubik-pi-3-user-manual/1.0.0-u/peripherals-and-interfaces/wifi-and-bluetooth" TargetMode="External"/><Relationship Id="rId5" Type="http://schemas.openxmlformats.org/officeDocument/2006/relationships/hyperlink" Target="https://docs.ros.org/en/jazzy/index.html" TargetMode="External"/><Relationship Id="rId4" Type="http://schemas.openxmlformats.org/officeDocument/2006/relationships/hyperlink" Target="https://rubikpi.ai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ctrTitle"/>
          </p:nvPr>
        </p:nvSpPr>
        <p:spPr>
          <a:xfrm>
            <a:off x="311700" y="1022463"/>
            <a:ext cx="8520600" cy="130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Robot Tutorial</a:t>
            </a:r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ubTitle" idx="1"/>
          </p:nvPr>
        </p:nvSpPr>
        <p:spPr>
          <a:xfrm>
            <a:off x="311700" y="2561625"/>
            <a:ext cx="8520600" cy="147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/>
            <a:r>
              <a:rPr lang="en-US" dirty="0"/>
              <a:t>Henrik Christensen, Charvi Shukla, Shiladitya Biswas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Credit to Chenghao Li, Henry Zhang, David Paz for Initial version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System Overview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UART connection and WiFi connection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ROS2 packages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Control for the robot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Camera Driver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Apriltag Detection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Waverover System Overview</a:t>
            </a:r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Robot body: Waverover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4 Wheels Differential Drive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Battery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Raspberry Pi Camera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IMU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Robot Head: Qualcomm Rubik Pi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Kryo™ 670 8 cores CPU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RAM 8 GB LPDDR4x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12 TOPS On-device AI capability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Robot Brain: Software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System: Ubuntu 24.04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ROS2 Jazzy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Custom ROS2 Packages: robot_vision_camera, robot_contrl, apriltag_ros</a:t>
            </a:r>
            <a:endParaRPr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0250" y="791825"/>
            <a:ext cx="4149652" cy="3112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>
            <a:spLocks noGrp="1"/>
          </p:cNvSpPr>
          <p:nvPr>
            <p:ph type="body" idx="1"/>
          </p:nvPr>
        </p:nvSpPr>
        <p:spPr>
          <a:xfrm>
            <a:off x="311700" y="1106050"/>
            <a:ext cx="8520600" cy="3587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Connect Rubik Pi through micro-usb cable.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Install screen/minicom for ubuntu and MacOS </a:t>
            </a:r>
            <a:r>
              <a:rPr lang="en" sz="1400"/>
              <a:t>Or </a:t>
            </a:r>
            <a:r>
              <a:rPr lang="en" sz="1400" u="sng">
                <a:solidFill>
                  <a:schemeClr val="hlink"/>
                </a:solidFill>
                <a:hlinkClick r:id="rId3"/>
              </a:rPr>
              <a:t>PuTTY</a:t>
            </a:r>
            <a:r>
              <a:rPr lang="en" sz="1400"/>
              <a:t> for Windows</a:t>
            </a:r>
            <a:endParaRPr sz="140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393A34"/>
                </a:solidFill>
                <a:highlight>
                  <a:srgbClr val="DCDCDC"/>
                </a:highlight>
                <a:latin typeface="Courier New"/>
                <a:ea typeface="Courier New"/>
                <a:cs typeface="Courier New"/>
                <a:sym typeface="Courier New"/>
              </a:rPr>
              <a:t>$ sudo apt update</a:t>
            </a:r>
            <a:endParaRPr sz="1150">
              <a:solidFill>
                <a:srgbClr val="393A34"/>
              </a:solidFill>
              <a:highlight>
                <a:srgbClr val="DCDCD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393A34"/>
                </a:solidFill>
                <a:highlight>
                  <a:srgbClr val="DCDCDC"/>
                </a:highlight>
                <a:latin typeface="Courier New"/>
                <a:ea typeface="Courier New"/>
                <a:cs typeface="Courier New"/>
                <a:sym typeface="Courier New"/>
              </a:rPr>
              <a:t>$ sudo apt install screen</a:t>
            </a:r>
            <a:endParaRPr sz="1150">
              <a:solidFill>
                <a:srgbClr val="393A34"/>
              </a:solidFill>
              <a:highlight>
                <a:srgbClr val="DCDCD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393A34"/>
                </a:solidFill>
                <a:highlight>
                  <a:srgbClr val="DCDCDC"/>
                </a:highlight>
                <a:latin typeface="Courier New"/>
                <a:ea typeface="Courier New"/>
                <a:cs typeface="Courier New"/>
                <a:sym typeface="Courier New"/>
              </a:rPr>
              <a:t>$ ls /dev/ttyACM*</a:t>
            </a:r>
            <a:endParaRPr sz="1150">
              <a:solidFill>
                <a:srgbClr val="393A34"/>
              </a:solidFill>
              <a:highlight>
                <a:srgbClr val="DCDCD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393A34"/>
                </a:solidFill>
                <a:highlight>
                  <a:srgbClr val="DCDCDC"/>
                </a:highlight>
                <a:latin typeface="Courier New"/>
                <a:ea typeface="Courier New"/>
                <a:cs typeface="Courier New"/>
                <a:sym typeface="Courier New"/>
              </a:rPr>
              <a:t>$ sudo screen /dev/ttyACM* 115200 or sudo minicom -D /dev/ttyACM* -b 115200</a:t>
            </a:r>
            <a:endParaRPr>
              <a:highlight>
                <a:srgbClr val="DCDCDC"/>
              </a:highlight>
            </a:endParaRPr>
          </a:p>
          <a:p>
            <a:pPr marL="914400" lvl="1" indent="-317500" algn="l" rtl="0">
              <a:spcBef>
                <a:spcPts val="12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Account: ubuntu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Password: rubikpi123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passwd</a:t>
            </a:r>
            <a:endParaRPr/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86825" y="1230825"/>
            <a:ext cx="2104625" cy="167317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Setup Debug UART (</a:t>
            </a:r>
            <a:r>
              <a:rPr lang="en" u="sng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r>
              <a:rPr lang="en"/>
              <a:t>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WiFi connection</a:t>
            </a:r>
            <a:endParaRPr/>
          </a:p>
        </p:txBody>
      </p:sp>
      <p:sp>
        <p:nvSpPr>
          <p:cNvPr id="96" name="Google Shape;96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Set-up WiFi connection through terminal (</a:t>
            </a:r>
            <a:r>
              <a:rPr lang="en" u="sng">
                <a:solidFill>
                  <a:schemeClr val="hlink"/>
                </a:solidFill>
                <a:hlinkClick r:id="rId3"/>
              </a:rPr>
              <a:t>link</a:t>
            </a:r>
            <a:r>
              <a:rPr lang="en"/>
              <a:t>)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nmcli</a:t>
            </a:r>
            <a:endParaRPr/>
          </a:p>
          <a:p>
            <a:pPr marL="9144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DCDCDC"/>
                </a:highlight>
                <a:latin typeface="Courier New"/>
                <a:ea typeface="Courier New"/>
                <a:cs typeface="Courier New"/>
                <a:sym typeface="Courier New"/>
              </a:rPr>
              <a:t>$ nmcli dev wifi connect &lt;WiFi-SSID&gt; password &lt;WiFi-password&gt;</a:t>
            </a:r>
            <a:endParaRPr sz="1400">
              <a:solidFill>
                <a:schemeClr val="dk1"/>
              </a:solidFill>
              <a:highlight>
                <a:srgbClr val="DCDCD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1" indent="-317500" algn="l" rtl="0">
              <a:spcBef>
                <a:spcPts val="12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nmtui</a:t>
            </a:r>
            <a:endParaRPr/>
          </a:p>
          <a:p>
            <a:pPr marL="9144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DCDCDC"/>
                </a:highlight>
                <a:latin typeface="Courier New"/>
                <a:ea typeface="Courier New"/>
                <a:cs typeface="Courier New"/>
                <a:sym typeface="Courier New"/>
              </a:rPr>
              <a:t>$ sudo nmtui</a:t>
            </a:r>
            <a:endParaRPr sz="1400">
              <a:solidFill>
                <a:schemeClr val="dk1"/>
              </a:solidFill>
              <a:highlight>
                <a:srgbClr val="DCDCD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Access over SSH (</a:t>
            </a:r>
            <a:r>
              <a:rPr lang="en" u="sng">
                <a:solidFill>
                  <a:schemeClr val="hlink"/>
                </a:solidFill>
                <a:hlinkClick r:id="rId4"/>
              </a:rPr>
              <a:t>link</a:t>
            </a:r>
            <a:r>
              <a:rPr lang="en"/>
              <a:t>)</a:t>
            </a:r>
            <a:endParaRPr/>
          </a:p>
          <a:p>
            <a:pPr marL="9144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DCDCDC"/>
                </a:highlight>
                <a:latin typeface="Courier New"/>
                <a:ea typeface="Courier New"/>
                <a:cs typeface="Courier New"/>
                <a:sym typeface="Courier New"/>
              </a:rPr>
              <a:t>$ ssh &lt;user name&gt;@ip-address</a:t>
            </a:r>
            <a:endParaRPr sz="1400">
              <a:solidFill>
                <a:schemeClr val="dk1"/>
              </a:solidFill>
              <a:highlight>
                <a:srgbClr val="DCDCD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DCDCDC"/>
                </a:highlight>
                <a:latin typeface="Courier New"/>
                <a:ea typeface="Courier New"/>
                <a:cs typeface="Courier New"/>
                <a:sym typeface="Courier New"/>
              </a:rPr>
              <a:t>$ ssh ubuntu@192.168.90.181</a:t>
            </a:r>
            <a:endParaRPr sz="1400">
              <a:solidFill>
                <a:schemeClr val="dk1"/>
              </a:solidFill>
              <a:highlight>
                <a:srgbClr val="DCDCD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 ROS2 Packages</a:t>
            </a:r>
            <a:endParaRPr/>
          </a:p>
        </p:txBody>
      </p:sp>
      <p:pic>
        <p:nvPicPr>
          <p:cNvPr id="102" name="Google Shape;102;p20" title="TA276A - Page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800" y="1361786"/>
            <a:ext cx="8697498" cy="2836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Robot Control of Waverover (</a:t>
            </a:r>
            <a:r>
              <a:rPr lang="en" u="sng">
                <a:solidFill>
                  <a:schemeClr val="hlink"/>
                </a:solidFill>
                <a:hlinkClick r:id="rId3"/>
              </a:rPr>
              <a:t>link</a:t>
            </a:r>
            <a:r>
              <a:rPr lang="en"/>
              <a:t>)</a:t>
            </a:r>
            <a:endParaRPr/>
          </a:p>
        </p:txBody>
      </p:sp>
      <p:sp>
        <p:nvSpPr>
          <p:cNvPr id="108" name="Google Shape;108;p21"/>
          <p:cNvSpPr txBox="1">
            <a:spLocks noGrp="1"/>
          </p:cNvSpPr>
          <p:nvPr>
            <p:ph type="body" idx="1"/>
          </p:nvPr>
        </p:nvSpPr>
        <p:spPr>
          <a:xfrm>
            <a:off x="311700" y="655450"/>
            <a:ext cx="4903500" cy="39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457200" lvl="0" indent="-317182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Connect to the robot's WiFi network</a:t>
            </a:r>
            <a:endParaRPr/>
          </a:p>
          <a:p>
            <a:pPr marL="914400" lvl="1" indent="-297497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ssid: UGV</a:t>
            </a:r>
            <a:endParaRPr/>
          </a:p>
          <a:p>
            <a:pPr marL="914400" lvl="1" indent="-297497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password: 12345678</a:t>
            </a:r>
            <a:endParaRPr/>
          </a:p>
          <a:p>
            <a:pPr marL="457200" lvl="0" indent="-317182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Access the web-based user interface</a:t>
            </a:r>
            <a:endParaRPr/>
          </a:p>
          <a:p>
            <a:pPr marL="914400" lvl="1" indent="-297497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open the Google Chrome browser and type "192.168.4.1" in the address bar</a:t>
            </a:r>
            <a:endParaRPr/>
          </a:p>
          <a:p>
            <a:pPr marL="457200" lvl="0" indent="-317182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Control robot using JSON</a:t>
            </a:r>
            <a:endParaRPr/>
          </a:p>
          <a:p>
            <a:pPr marL="914400" marR="177800" lvl="1" indent="-29749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33333"/>
              <a:buChar char="○"/>
            </a:pPr>
            <a:r>
              <a:rPr lang="en" sz="1050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" sz="1050">
                <a:solidFill>
                  <a:srgbClr val="D69D8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"T"</a:t>
            </a:r>
            <a:r>
              <a:rPr lang="en" sz="1050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50">
                <a:solidFill>
                  <a:srgbClr val="B8D7A3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050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050">
                <a:solidFill>
                  <a:srgbClr val="D69D8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"L"</a:t>
            </a:r>
            <a:r>
              <a:rPr lang="en" sz="1050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50">
                <a:solidFill>
                  <a:srgbClr val="B8D7A3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0.5</a:t>
            </a:r>
            <a:r>
              <a:rPr lang="en" sz="1050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050">
                <a:solidFill>
                  <a:srgbClr val="D69D8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"R"</a:t>
            </a:r>
            <a:r>
              <a:rPr lang="en" sz="1050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50">
                <a:solidFill>
                  <a:srgbClr val="B8D7A3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0.5</a:t>
            </a:r>
            <a:r>
              <a:rPr lang="en" sz="1050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 </a:t>
            </a:r>
            <a:endParaRPr sz="1050">
              <a:solidFill>
                <a:srgbClr val="DCDCDC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177800" lvl="1" indent="-29749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L is the speed of the left wheel, R is the speed of the right wheel, and the speed range is -0.5 ~ +0.5, positive value forward, negative value backward.</a:t>
            </a:r>
            <a:endParaRPr/>
          </a:p>
          <a:p>
            <a:pPr marL="914400" marR="177800" lvl="1" indent="-29749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33333"/>
              <a:buChar char="○"/>
            </a:pPr>
            <a:r>
              <a:rPr lang="en" sz="1050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" sz="1050">
                <a:solidFill>
                  <a:srgbClr val="D69D8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"T"</a:t>
            </a:r>
            <a:r>
              <a:rPr lang="en" sz="1050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50">
                <a:solidFill>
                  <a:srgbClr val="B8D7A3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126</a:t>
            </a:r>
            <a:r>
              <a:rPr lang="en" sz="1050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" sz="10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05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177800" lvl="1" indent="-29749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33333"/>
              <a:buChar char="○"/>
            </a:pPr>
            <a:r>
              <a:rPr lang="en"/>
              <a:t>get IMU data, including heading angle, geomagnetic field, acceleration, attitudes, temperature, etc.</a:t>
            </a:r>
            <a:endParaRPr sz="1050">
              <a:solidFill>
                <a:srgbClr val="DCDCDC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177800" lvl="1" indent="-29749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33333"/>
              <a:buChar char="○"/>
            </a:pPr>
            <a:r>
              <a:rPr lang="en" sz="1050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" sz="1050">
                <a:solidFill>
                  <a:srgbClr val="D69D8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"T"</a:t>
            </a:r>
            <a:r>
              <a:rPr lang="en" sz="1050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50">
                <a:solidFill>
                  <a:srgbClr val="B8D7A3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" sz="1050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050">
                <a:solidFill>
                  <a:srgbClr val="D69D8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"lineNum"</a:t>
            </a:r>
            <a:r>
              <a:rPr lang="en" sz="1050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50">
                <a:solidFill>
                  <a:srgbClr val="B8D7A3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050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050">
                <a:solidFill>
                  <a:srgbClr val="D69D8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"Text"</a:t>
            </a:r>
            <a:r>
              <a:rPr lang="en" sz="1050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50">
                <a:solidFill>
                  <a:srgbClr val="D69D8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"putYourTextHere"</a:t>
            </a:r>
            <a:r>
              <a:rPr lang="en" sz="1050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>
              <a:solidFill>
                <a:srgbClr val="DCDCDC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1" indent="-297497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OLED screen display content settings.</a:t>
            </a:r>
            <a:endParaRPr/>
          </a:p>
          <a:p>
            <a:pPr marL="914400" lvl="1" indent="-297497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lineNum parameter for the line settings, can be: 0, 1, 2, 3, a total of 4 lines of content can be displayed.</a:t>
            </a:r>
            <a:endParaRPr/>
          </a:p>
        </p:txBody>
      </p:sp>
      <p:pic>
        <p:nvPicPr>
          <p:cNvPr id="109" name="Google Shape;10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43875" y="518507"/>
            <a:ext cx="3773800" cy="40079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Robot Control of Waverover (ROS2)</a:t>
            </a:r>
            <a:endParaRPr/>
          </a:p>
        </p:txBody>
      </p:sp>
      <p:sp>
        <p:nvSpPr>
          <p:cNvPr id="115" name="Google Shape;115;p22"/>
          <p:cNvSpPr txBox="1">
            <a:spLocks noGrp="1"/>
          </p:cNvSpPr>
          <p:nvPr>
            <p:ph type="body" idx="1"/>
          </p:nvPr>
        </p:nvSpPr>
        <p:spPr>
          <a:xfrm>
            <a:off x="311700" y="572700"/>
            <a:ext cx="8520600" cy="399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Motor control in ros2 using serial port /dev/ttyUSB0 (</a:t>
            </a:r>
            <a:r>
              <a:rPr lang="en" u="sng">
                <a:solidFill>
                  <a:schemeClr val="hlink"/>
                </a:solidFill>
                <a:hlinkClick r:id="rId3"/>
              </a:rPr>
              <a:t>link</a:t>
            </a:r>
            <a:r>
              <a:rPr lang="en"/>
              <a:t>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ROS2 Jazzy to your path</a:t>
            </a:r>
            <a:endParaRPr/>
          </a:p>
          <a:p>
            <a:pPr marL="9144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highlight>
                  <a:srgbClr val="DCDCDC"/>
                </a:highlight>
                <a:latin typeface="Courier New"/>
                <a:ea typeface="Courier New"/>
                <a:cs typeface="Courier New"/>
                <a:sym typeface="Courier New"/>
              </a:rPr>
              <a:t>$ source /opt/ros/jazzy/setup.bash</a:t>
            </a:r>
            <a:endParaRPr sz="1300">
              <a:solidFill>
                <a:schemeClr val="dk1"/>
              </a:solidFill>
              <a:highlight>
                <a:srgbClr val="DCDCD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Build ROS2 packages</a:t>
            </a:r>
            <a:endParaRPr/>
          </a:p>
          <a:p>
            <a:pPr marL="9144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highlight>
                  <a:srgbClr val="DCDCDC"/>
                </a:highlight>
                <a:latin typeface="Courier New"/>
                <a:ea typeface="Courier New"/>
                <a:cs typeface="Courier New"/>
                <a:sym typeface="Courier New"/>
              </a:rPr>
              <a:t>$ cd /path/to/ros2_ws/</a:t>
            </a:r>
            <a:endParaRPr sz="1300">
              <a:solidFill>
                <a:schemeClr val="dk1"/>
              </a:solidFill>
              <a:highlight>
                <a:srgbClr val="DCDCD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highlight>
                  <a:srgbClr val="DCDCDC"/>
                </a:highlight>
                <a:latin typeface="Courier New"/>
                <a:ea typeface="Courier New"/>
                <a:cs typeface="Courier New"/>
                <a:sym typeface="Courier New"/>
              </a:rPr>
              <a:t>$ colcon build</a:t>
            </a:r>
            <a:endParaRPr sz="1300">
              <a:solidFill>
                <a:schemeClr val="dk1"/>
              </a:solidFill>
              <a:highlight>
                <a:srgbClr val="DCDCD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highlight>
                  <a:srgbClr val="DCDCDC"/>
                </a:highlight>
                <a:latin typeface="Courier New"/>
                <a:ea typeface="Courier New"/>
                <a:cs typeface="Courier New"/>
                <a:sym typeface="Courier New"/>
              </a:rPr>
              <a:t>$ colcon build –packages-select package_name</a:t>
            </a:r>
            <a:endParaRPr sz="1300">
              <a:solidFill>
                <a:schemeClr val="dk1"/>
              </a:solidFill>
              <a:highlight>
                <a:srgbClr val="DCDCD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highlight>
                  <a:srgbClr val="DCDCDC"/>
                </a:highlight>
                <a:latin typeface="Courier New"/>
                <a:ea typeface="Courier New"/>
                <a:cs typeface="Courier New"/>
                <a:sym typeface="Courier New"/>
              </a:rPr>
              <a:t>$ colcon build –symlink-install</a:t>
            </a:r>
            <a:endParaRPr sz="1300">
              <a:solidFill>
                <a:schemeClr val="dk1"/>
              </a:solidFill>
              <a:highlight>
                <a:srgbClr val="DCDCD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workspace to your path</a:t>
            </a:r>
            <a:endParaRPr/>
          </a:p>
          <a:p>
            <a:pPr marL="9144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00">
                <a:solidFill>
                  <a:schemeClr val="dk1"/>
                </a:solidFill>
                <a:highlight>
                  <a:srgbClr val="DCDCDC"/>
                </a:highlight>
                <a:latin typeface="Courier New"/>
                <a:ea typeface="Courier New"/>
                <a:cs typeface="Courier New"/>
                <a:sym typeface="Courier New"/>
              </a:rPr>
              <a:t>$ source /path/to/ros2_ws/install/setup.bash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Robot Control of Waverover (ROS2)</a:t>
            </a:r>
            <a:endParaRPr/>
          </a:p>
        </p:txBody>
      </p:sp>
      <p:sp>
        <p:nvSpPr>
          <p:cNvPr id="121" name="Google Shape;121;p23"/>
          <p:cNvSpPr txBox="1">
            <a:spLocks noGrp="1"/>
          </p:cNvSpPr>
          <p:nvPr>
            <p:ph type="body" idx="1"/>
          </p:nvPr>
        </p:nvSpPr>
        <p:spPr>
          <a:xfrm>
            <a:off x="311700" y="572700"/>
            <a:ext cx="8520600" cy="399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Check ROS2 Domain ID:</a:t>
            </a:r>
            <a:endParaRPr/>
          </a:p>
          <a:p>
            <a:pPr marL="9144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highlight>
                  <a:srgbClr val="DCDCDC"/>
                </a:highlight>
                <a:latin typeface="Courier New"/>
                <a:ea typeface="Courier New"/>
                <a:cs typeface="Courier New"/>
                <a:sym typeface="Courier New"/>
              </a:rPr>
              <a:t>$ echo $ROS_DOMAIN_ID 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Run nodes (</a:t>
            </a:r>
            <a:r>
              <a:rPr lang="en" u="sng">
                <a:solidFill>
                  <a:schemeClr val="hlink"/>
                </a:solidFill>
                <a:hlinkClick r:id="rId3"/>
              </a:rPr>
              <a:t>link</a:t>
            </a:r>
            <a:r>
              <a:rPr lang="en"/>
              <a:t>)</a:t>
            </a:r>
            <a:endParaRPr/>
          </a:p>
          <a:p>
            <a:pPr marL="9144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highlight>
                  <a:srgbClr val="DCDCDC"/>
                </a:highlight>
                <a:latin typeface="Courier New"/>
                <a:ea typeface="Courier New"/>
                <a:cs typeface="Courier New"/>
                <a:sym typeface="Courier New"/>
              </a:rPr>
              <a:t>$ ros2 run robot_control motor_control #waverover motors node</a:t>
            </a:r>
            <a:endParaRPr sz="1300">
              <a:solidFill>
                <a:schemeClr val="dk1"/>
              </a:solidFill>
              <a:highlight>
                <a:srgbClr val="DCDCD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highlight>
                  <a:srgbClr val="DCDCDC"/>
                </a:highlight>
                <a:latin typeface="Courier New"/>
                <a:ea typeface="Courier New"/>
                <a:cs typeface="Courier New"/>
                <a:sym typeface="Courier New"/>
              </a:rPr>
              <a:t>$ ros2 run robot_control keyboard_control #keyboard control node</a:t>
            </a:r>
            <a:endParaRPr sz="1300">
              <a:solidFill>
                <a:schemeClr val="dk1"/>
              </a:solidFill>
              <a:highlight>
                <a:srgbClr val="DCDCD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Or (</a:t>
            </a:r>
            <a:r>
              <a:rPr lang="en" u="sng">
                <a:solidFill>
                  <a:schemeClr val="hlink"/>
                </a:solidFill>
                <a:hlinkClick r:id="rId4"/>
              </a:rPr>
              <a:t>link</a:t>
            </a:r>
            <a:r>
              <a:rPr lang="en"/>
              <a:t>)</a:t>
            </a:r>
            <a:endParaRPr sz="1300">
              <a:solidFill>
                <a:schemeClr val="dk1"/>
              </a:solidFill>
              <a:highlight>
                <a:srgbClr val="DCDCD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highlight>
                  <a:srgbClr val="DCDCDC"/>
                </a:highlight>
                <a:latin typeface="Courier New"/>
                <a:ea typeface="Courier New"/>
                <a:cs typeface="Courier New"/>
                <a:sym typeface="Courier New"/>
              </a:rPr>
              <a:t>$ ros2 launch robot_control robot_teleop_launch.py #keyboard control launch file</a:t>
            </a:r>
            <a:endParaRPr sz="1300">
              <a:solidFill>
                <a:schemeClr val="dk1"/>
              </a:solidFill>
              <a:highlight>
                <a:srgbClr val="DCDCD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highlight>
                  <a:srgbClr val="DCDCDC"/>
                </a:highlight>
                <a:latin typeface="Courier New"/>
                <a:ea typeface="Courier New"/>
                <a:cs typeface="Courier New"/>
                <a:sym typeface="Courier New"/>
              </a:rPr>
              <a:t>$ ros2 topic pub --once /motor_commands std_msgs/msg/Float32MultiArray "data: [0.2, 0.2]"</a:t>
            </a:r>
            <a:endParaRPr sz="1300">
              <a:solidFill>
                <a:schemeClr val="dk1"/>
              </a:solidFill>
              <a:highlight>
                <a:srgbClr val="DCDCD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0" indent="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>
              <a:solidFill>
                <a:schemeClr val="dk1"/>
              </a:solidFill>
              <a:highlight>
                <a:srgbClr val="DCDCDC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Organization of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workspace </a:t>
            </a:r>
            <a:endParaRPr/>
          </a:p>
        </p:txBody>
      </p:sp>
      <p:sp>
        <p:nvSpPr>
          <p:cNvPr id="127" name="Google Shape;127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tree -L 2</a:t>
            </a:r>
            <a:endParaRPr/>
          </a:p>
        </p:txBody>
      </p:sp>
      <p:pic>
        <p:nvPicPr>
          <p:cNvPr id="128" name="Google Shape;12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5650" y="12"/>
            <a:ext cx="3575551" cy="48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11200" y="0"/>
            <a:ext cx="26333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Robot Control of Waverover (ROS2)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endParaRPr/>
          </a:p>
        </p:txBody>
      </p:sp>
      <p:pic>
        <p:nvPicPr>
          <p:cNvPr id="135" name="Google Shape;13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548000"/>
            <a:ext cx="4303499" cy="3748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9000" y="548000"/>
            <a:ext cx="3272150" cy="3788601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5"/>
          <p:cNvSpPr txBox="1"/>
          <p:nvPr/>
        </p:nvSpPr>
        <p:spPr>
          <a:xfrm>
            <a:off x="5170800" y="4254875"/>
            <a:ext cx="2547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004E72"/>
                </a:solidFill>
                <a:latin typeface="Roboto"/>
                <a:ea typeface="Roboto"/>
                <a:cs typeface="Roboto"/>
                <a:sym typeface="Roboto"/>
              </a:rPr>
              <a:t>motor_control.py</a:t>
            </a:r>
            <a:endParaRPr sz="1800">
              <a:solidFill>
                <a:srgbClr val="004E7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" name="Google Shape;138;p25"/>
          <p:cNvSpPr txBox="1"/>
          <p:nvPr/>
        </p:nvSpPr>
        <p:spPr>
          <a:xfrm>
            <a:off x="582125" y="4254875"/>
            <a:ext cx="3105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004E72"/>
                </a:solidFill>
                <a:latin typeface="Roboto"/>
                <a:ea typeface="Roboto"/>
                <a:cs typeface="Roboto"/>
                <a:sym typeface="Roboto"/>
              </a:rPr>
              <a:t>keyboard_control.py</a:t>
            </a:r>
            <a:endParaRPr sz="1800">
              <a:solidFill>
                <a:srgbClr val="004E7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 dirty="0"/>
              <a:t>Launch Camera</a:t>
            </a:r>
            <a:endParaRPr dirty="0"/>
          </a:p>
        </p:txBody>
      </p:sp>
      <p:sp>
        <p:nvSpPr>
          <p:cNvPr id="144" name="Google Shape;144;p26"/>
          <p:cNvSpPr txBox="1">
            <a:spLocks noGrp="1"/>
          </p:cNvSpPr>
          <p:nvPr>
            <p:ph type="body" idx="1"/>
          </p:nvPr>
        </p:nvSpPr>
        <p:spPr>
          <a:xfrm>
            <a:off x="311700" y="523725"/>
            <a:ext cx="6373200" cy="40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Run camera driver nodes (</a:t>
            </a:r>
            <a:r>
              <a:rPr lang="en" u="sng" dirty="0">
                <a:solidFill>
                  <a:schemeClr val="hlink"/>
                </a:solidFill>
                <a:hlinkClick r:id="rId3"/>
              </a:rPr>
              <a:t>link</a:t>
            </a:r>
            <a:r>
              <a:rPr lang="en" dirty="0"/>
              <a:t>)</a:t>
            </a:r>
            <a:endParaRPr dirty="0"/>
          </a:p>
          <a:p>
            <a:pPr marL="9144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 dirty="0">
                <a:solidFill>
                  <a:schemeClr val="dk1"/>
                </a:solidFill>
                <a:highlight>
                  <a:srgbClr val="DCDCDC"/>
                </a:highlight>
                <a:latin typeface="Courier New"/>
                <a:ea typeface="Courier New"/>
                <a:cs typeface="Courier New"/>
                <a:sym typeface="Courier New"/>
              </a:rPr>
              <a:t>$ ros2 run </a:t>
            </a:r>
            <a:r>
              <a:rPr lang="en" sz="1300" dirty="0" err="1">
                <a:solidFill>
                  <a:schemeClr val="dk1"/>
                </a:solidFill>
                <a:highlight>
                  <a:srgbClr val="DCDCDC"/>
                </a:highlight>
                <a:latin typeface="Courier New"/>
                <a:ea typeface="Courier New"/>
                <a:cs typeface="Courier New"/>
                <a:sym typeface="Courier New"/>
              </a:rPr>
              <a:t>robot_vision_camera</a:t>
            </a:r>
            <a:r>
              <a:rPr lang="en" sz="1300" dirty="0">
                <a:solidFill>
                  <a:schemeClr val="dk1"/>
                </a:solidFill>
                <a:highlight>
                  <a:srgbClr val="DCDCDC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 dirty="0" err="1">
                <a:solidFill>
                  <a:schemeClr val="dk1"/>
                </a:solidFill>
                <a:highlight>
                  <a:srgbClr val="DCDCDC"/>
                </a:highlight>
                <a:latin typeface="Courier New"/>
                <a:ea typeface="Courier New"/>
                <a:cs typeface="Courier New"/>
                <a:sym typeface="Courier New"/>
              </a:rPr>
              <a:t>robot_vision_camera</a:t>
            </a:r>
            <a:r>
              <a:rPr lang="en" sz="1300" dirty="0">
                <a:solidFill>
                  <a:schemeClr val="dk1"/>
                </a:solidFill>
                <a:highlight>
                  <a:srgbClr val="DCDCDC"/>
                </a:highlight>
                <a:latin typeface="Courier New"/>
                <a:ea typeface="Courier New"/>
                <a:cs typeface="Courier New"/>
                <a:sym typeface="Courier New"/>
              </a:rPr>
              <a:t> #Camera Driver</a:t>
            </a:r>
            <a:endParaRPr sz="1300" dirty="0">
              <a:solidFill>
                <a:schemeClr val="dk1"/>
              </a:solidFill>
              <a:highlight>
                <a:srgbClr val="DCDCD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Or (</a:t>
            </a:r>
            <a:r>
              <a:rPr lang="en" u="sng" dirty="0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r>
              <a:rPr lang="en" dirty="0"/>
              <a:t>)</a:t>
            </a:r>
            <a:endParaRPr dirty="0"/>
          </a:p>
          <a:p>
            <a:pPr marL="9144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 dirty="0">
                <a:solidFill>
                  <a:schemeClr val="dk1"/>
                </a:solidFill>
                <a:highlight>
                  <a:srgbClr val="DCDCDC"/>
                </a:highlight>
                <a:latin typeface="Courier New"/>
                <a:ea typeface="Courier New"/>
                <a:cs typeface="Courier New"/>
                <a:sym typeface="Courier New"/>
              </a:rPr>
              <a:t>$ ros2 launch </a:t>
            </a:r>
            <a:r>
              <a:rPr lang="en" sz="1300" dirty="0" err="1">
                <a:solidFill>
                  <a:schemeClr val="dk1"/>
                </a:solidFill>
                <a:highlight>
                  <a:srgbClr val="DCDCDC"/>
                </a:highlight>
                <a:latin typeface="Courier New"/>
                <a:ea typeface="Courier New"/>
                <a:cs typeface="Courier New"/>
                <a:sym typeface="Courier New"/>
              </a:rPr>
              <a:t>robot_vision_camera</a:t>
            </a:r>
            <a:r>
              <a:rPr lang="en" sz="1300" dirty="0">
                <a:solidFill>
                  <a:schemeClr val="dk1"/>
                </a:solidFill>
                <a:highlight>
                  <a:srgbClr val="DCDCDC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 dirty="0" err="1">
                <a:solidFill>
                  <a:schemeClr val="dk1"/>
                </a:solidFill>
                <a:highlight>
                  <a:srgbClr val="DCDCDC"/>
                </a:highlight>
                <a:latin typeface="Courier New"/>
                <a:ea typeface="Courier New"/>
                <a:cs typeface="Courier New"/>
                <a:sym typeface="Courier New"/>
              </a:rPr>
              <a:t>robot_vision_camera.launch.py</a:t>
            </a:r>
            <a:r>
              <a:rPr lang="en" sz="1300" dirty="0">
                <a:solidFill>
                  <a:schemeClr val="dk1"/>
                </a:solidFill>
                <a:highlight>
                  <a:srgbClr val="DCDCDC"/>
                </a:highlight>
                <a:latin typeface="Courier New"/>
                <a:ea typeface="Courier New"/>
                <a:cs typeface="Courier New"/>
                <a:sym typeface="Courier New"/>
              </a:rPr>
              <a:t> #This included camera driver and foxglove bridge</a:t>
            </a:r>
            <a:endParaRPr sz="1300" dirty="0">
              <a:solidFill>
                <a:schemeClr val="dk1"/>
              </a:solidFill>
              <a:highlight>
                <a:srgbClr val="DCDCD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Camera Parameter</a:t>
            </a:r>
            <a:endParaRPr sz="1300" dirty="0">
              <a:solidFill>
                <a:schemeClr val="dk1"/>
              </a:solidFill>
              <a:highlight>
                <a:srgbClr val="DCDCDC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45" name="Google Shape;145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37772" y="523725"/>
            <a:ext cx="2588378" cy="3662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AprilTag Detection</a:t>
            </a:r>
            <a:endParaRPr/>
          </a:p>
        </p:txBody>
      </p:sp>
      <p:sp>
        <p:nvSpPr>
          <p:cNvPr id="151" name="Google Shape;151;p27"/>
          <p:cNvSpPr txBox="1">
            <a:spLocks noGrp="1"/>
          </p:cNvSpPr>
          <p:nvPr>
            <p:ph type="body" idx="1"/>
          </p:nvPr>
        </p:nvSpPr>
        <p:spPr>
          <a:xfrm>
            <a:off x="311700" y="634650"/>
            <a:ext cx="8520600" cy="393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Run Apriltag detection node</a:t>
            </a:r>
            <a:endParaRPr sz="1200">
              <a:solidFill>
                <a:schemeClr val="dk1"/>
              </a:solidFill>
              <a:highlight>
                <a:srgbClr val="DCDCD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DCDCDC"/>
                </a:highlight>
                <a:latin typeface="Courier New"/>
                <a:ea typeface="Courier New"/>
                <a:cs typeface="Courier New"/>
                <a:sym typeface="Courier New"/>
              </a:rPr>
              <a:t>$ ros2 run apriltag_ros apriltag_node --ros-args \</a:t>
            </a:r>
            <a:endParaRPr sz="1200">
              <a:solidFill>
                <a:schemeClr val="dk1"/>
              </a:solidFill>
              <a:highlight>
                <a:srgbClr val="DCDCD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DCDCDC"/>
                </a:highlight>
                <a:latin typeface="Courier New"/>
                <a:ea typeface="Courier New"/>
                <a:cs typeface="Courier New"/>
                <a:sym typeface="Courier New"/>
              </a:rPr>
              <a:t>-r image_rect:=/camera/image_raw \</a:t>
            </a:r>
            <a:endParaRPr sz="1200">
              <a:solidFill>
                <a:schemeClr val="dk1"/>
              </a:solidFill>
              <a:highlight>
                <a:srgbClr val="DCDCD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DCDCDC"/>
                </a:highlight>
                <a:latin typeface="Courier New"/>
                <a:ea typeface="Courier New"/>
                <a:cs typeface="Courier New"/>
                <a:sym typeface="Courier New"/>
              </a:rPr>
              <a:t>-r camera_info:=/camera/camera_info \</a:t>
            </a:r>
            <a:endParaRPr sz="1200">
              <a:solidFill>
                <a:schemeClr val="dk1"/>
              </a:solidFill>
              <a:highlight>
                <a:srgbClr val="DCDCD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152400" lvl="0" indent="0" algn="l" rtl="0">
              <a:lnSpc>
                <a:spcPct val="14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DCDCDC"/>
                </a:highlight>
                <a:latin typeface="Courier New"/>
                <a:ea typeface="Courier New"/>
                <a:cs typeface="Courier New"/>
                <a:sym typeface="Courier New"/>
              </a:rPr>
              <a:t>--params-file </a:t>
            </a:r>
            <a:endParaRPr sz="1200">
              <a:solidFill>
                <a:schemeClr val="dk1"/>
              </a:solidFill>
              <a:highlight>
                <a:srgbClr val="DCDCD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Or (link):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DCDCDC"/>
                </a:highlight>
                <a:latin typeface="Courier New"/>
                <a:ea typeface="Courier New"/>
                <a:cs typeface="Courier New"/>
                <a:sym typeface="Courier New"/>
              </a:rPr>
              <a:t>$ ros2 launch apriltag_ros apriltag_launch.py </a:t>
            </a:r>
            <a:endParaRPr/>
          </a:p>
        </p:txBody>
      </p:sp>
      <p:pic>
        <p:nvPicPr>
          <p:cNvPr id="152" name="Google Shape;15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2100" y="1036725"/>
            <a:ext cx="4395624" cy="2772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8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AprilTag Detection</a:t>
            </a:r>
            <a:endParaRPr/>
          </a:p>
        </p:txBody>
      </p:sp>
      <p:pic>
        <p:nvPicPr>
          <p:cNvPr id="158" name="Google Shape;158;p28" title="My Movie 5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50375" y="930300"/>
            <a:ext cx="4799926" cy="359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8"/>
          <p:cNvPicPr preferRelativeResize="0"/>
          <p:nvPr/>
        </p:nvPicPr>
        <p:blipFill rotWithShape="1">
          <a:blip r:embed="rId5">
            <a:alphaModFix/>
          </a:blip>
          <a:srcRect t="34069" b="10316"/>
          <a:stretch/>
        </p:blipFill>
        <p:spPr>
          <a:xfrm>
            <a:off x="-79525" y="2083225"/>
            <a:ext cx="4174427" cy="162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9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</a:t>
            </a:r>
            <a:endParaRPr/>
          </a:p>
        </p:txBody>
      </p:sp>
      <p:sp>
        <p:nvSpPr>
          <p:cNvPr id="165" name="Google Shape;165;p29"/>
          <p:cNvSpPr txBox="1">
            <a:spLocks noGrp="1"/>
          </p:cNvSpPr>
          <p:nvPr>
            <p:ph type="body" idx="1"/>
          </p:nvPr>
        </p:nvSpPr>
        <p:spPr>
          <a:xfrm>
            <a:off x="311700" y="572700"/>
            <a:ext cx="8520600" cy="399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Waverover robot: </a:t>
            </a:r>
            <a:r>
              <a:rPr lang="en" u="sng">
                <a:solidFill>
                  <a:schemeClr val="hlink"/>
                </a:solidFill>
                <a:hlinkClick r:id="rId3"/>
              </a:rPr>
              <a:t>link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Rubik Pi 3: </a:t>
            </a:r>
            <a:r>
              <a:rPr lang="en" u="sng">
                <a:solidFill>
                  <a:schemeClr val="hlink"/>
                </a:solidFill>
                <a:hlinkClick r:id="rId4"/>
              </a:rPr>
              <a:t>link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ROS2 Jazzy: </a:t>
            </a:r>
            <a:r>
              <a:rPr lang="en" u="sng">
                <a:solidFill>
                  <a:schemeClr val="hlink"/>
                </a:solidFill>
                <a:hlinkClick r:id="rId5"/>
              </a:rPr>
              <a:t>link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Rubik Pi 3 AP Mode: </a:t>
            </a:r>
            <a:r>
              <a:rPr lang="en" u="sng">
                <a:solidFill>
                  <a:schemeClr val="hlink"/>
                </a:solidFill>
                <a:hlinkClick r:id="rId6"/>
              </a:rPr>
              <a:t>link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VL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742</Words>
  <Application>Microsoft Macintosh PowerPoint</Application>
  <PresentationFormat>On-screen Show (16:9)</PresentationFormat>
  <Paragraphs>106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Roboto</vt:lpstr>
      <vt:lpstr>Roboto Medium</vt:lpstr>
      <vt:lpstr>Courier New</vt:lpstr>
      <vt:lpstr>Arial</vt:lpstr>
      <vt:lpstr>AVL Template</vt:lpstr>
      <vt:lpstr>Robot Tutorial</vt:lpstr>
      <vt:lpstr>Overview</vt:lpstr>
      <vt:lpstr>Waverover System Overview</vt:lpstr>
      <vt:lpstr>Setup Debug UART (link) </vt:lpstr>
      <vt:lpstr>WiFi connection</vt:lpstr>
      <vt:lpstr>Custom ROS2 Packages</vt:lpstr>
      <vt:lpstr>Robot Control of Waverover (link)</vt:lpstr>
      <vt:lpstr>Robot Control of Waverover (ROS2)</vt:lpstr>
      <vt:lpstr>Robot Control of Waverover (ROS2)</vt:lpstr>
      <vt:lpstr>Organization of  your workspace </vt:lpstr>
      <vt:lpstr>Robot Control of Waverover (ROS2) </vt:lpstr>
      <vt:lpstr>Launch Camera</vt:lpstr>
      <vt:lpstr>AprilTag Detection</vt:lpstr>
      <vt:lpstr>AprilTag Detection</vt:lpstr>
      <vt:lpstr>Reference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Christensen, Henrik</cp:lastModifiedBy>
  <cp:revision>1</cp:revision>
  <dcterms:modified xsi:type="dcterms:W3CDTF">2026-10-07T03:58:18Z</dcterms:modified>
  <cp:category/>
</cp:coreProperties>
</file>